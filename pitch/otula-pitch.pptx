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5b24eaf3-07c4-3d08-6115-516da91a402a}">
          <p14:sldIdLst>
            <p14:sldId id="256"/>
          </p14:sldIdLst>
        </p14:section>
        <p14:section name="Problem" id="{6ffbcfd2-dcb7-1ee5-eb36-94b46ccb4509}">
          <p14:sldIdLst>
            <p14:sldId id="257"/>
            <p14:sldId id="258"/>
          </p14:sldIdLst>
        </p14:section>
        <p14:section name="Solution" id="{b09feae0-2e91-799f-5b19-5ac5bd61cff2}">
          <p14:sldIdLst>
            <p14:sldId id="259"/>
          </p14:sldIdLst>
        </p14:section>
        <p14:section name="Innovation" id="{3d041716-c0e1-4fc8-907b-aed595591546}">
          <p14:sldIdLst>
            <p14:sldId id="260"/>
            <p14:sldId id="261"/>
            <p14:sldId id="262"/>
          </p14:sldIdLst>
        </p14:section>
        <p14:section name="Safety" id="{ed26f034-c387-f5fa-cc86-fbbb90ee5b45}">
          <p14:sldIdLst>
            <p14:sldId id="263"/>
          </p14:sldIdLst>
        </p14:section>
        <p14:section name="Build" id="{732875be-7eb9-c773-3e31-598dd76d4056}">
          <p14:sldIdLst>
            <p14:sldId id="264"/>
          </p14:sldIdLst>
        </p14:section>
        <p14:section name="Close" id="{10c97aac-95cf-297a-3caf-3fd10efbb91c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with the line: care follows the baby — Otula follows the mother. 15 seconds.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WHO: about 13% of women who have just given birth experience a mental disorder, primarily depression. Then the three gaps.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Personas are composites. The numbers are from Marta’s demo data, which follows a realistic six-week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Today screen: stage pill, check-in, forecast, best-matching strategy, goals.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Ranking = (survey prior × 2 + helped score) / (2 + uses). Simple, explainable, no black box. “Ask for support” prepares an SMS/WhatsApp message to her trusted person.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honest: in the demo the awake count comes from seeded demo accounts. The public page never shows notes, symptoms or screening results.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“In the doctor’s office everything slips my mind” — the report solves that. Print or save as PDF straight from the browser.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Otula is not a medical device. Helpline numbers are verified before launch. EPDS: Cox, Holden &amp; Sagovsky, 1987.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can explain every part: contract-first API, per-domain apps, pure-logic modules with unit tests (risk, ranking, forecast), MSW mocks so frontend and backend could work in parallel.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Close: thank the jury. Offer the live demo (make demo-reset, demo user Marta). Every statement about AI and pre-event work matches the README disclosure.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F695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etals-gho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0" y="-1097280"/>
            <a:ext cx="6949440" cy="694944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rgbClr val="F8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etals-fore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7023" y="6382512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NIGHT">
    <p:bg>
      <p:bgPr>
        <a:solidFill>
          <a:srgbClr val="1B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petals-amb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87023" y="6382512"/>
            <a:ext cx="256032" cy="256032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dirty="0">
                <a:solidFill>
                  <a:srgbClr val="F3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200" kern="0" dirty="0">
                <a:solidFill>
                  <a:srgbClr val="E0A46B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88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logo mark" descr="assets/petals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4008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188720" y="621792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F8F5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otula</a:t>
            </a:r>
            <a:endParaRPr lang="en-US" sz="30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1828800"/>
            <a:ext cx="65836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for the mother,</a:t>
            </a:r>
            <a:endParaRPr lang="en-US" sz="4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800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the baby.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397764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wellbeing companion for the fourth trimester — and every cycle after it. Daily check-ins, support on hard days, and a safety net that notices when it is more than a bad week.</a:t>
            </a:r>
            <a:endParaRPr lang="en-US" sz="1600" dirty="0"/>
          </a:p>
        </p:txBody>
      </p:sp>
      <p:sp>
        <p:nvSpPr>
          <p:cNvPr id="6" name="event pill"/>
          <p:cNvSpPr/>
          <p:nvPr/>
        </p:nvSpPr>
        <p:spPr>
          <a:xfrm>
            <a:off x="548640" y="5532120"/>
            <a:ext cx="3566160" cy="457200"/>
          </a:xfrm>
          <a:prstGeom prst="roundRect">
            <a:avLst>
              <a:gd name="adj" fmla="val 50000"/>
            </a:avLst>
          </a:prstGeom>
          <a:solidFill>
            <a:srgbClr val="315648"/>
          </a:solidFill>
          <a:ln w="12700">
            <a:solidFill>
              <a:srgbClr val="315648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553212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ImpactHer · HackYeah 2026</a:t>
            </a:r>
            <a:endParaRPr lang="en-US" sz="1300" dirty="0"/>
          </a:p>
        </p:txBody>
      </p:sp>
      <p:pic>
        <p:nvPicPr>
          <p:cNvPr id="8" name="phone mobile-today" descr="assets/mobile-toda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0" y="685800"/>
            <a:ext cx="2577438" cy="55778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374C42">
                <a:alpha val="18000"/>
              </a:srgb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After birth, the mother drops off the radar</a:t>
            </a:r>
            <a:endParaRPr lang="en-US" sz="3200" dirty="0"/>
          </a:p>
        </p:txBody>
      </p:sp>
      <p:sp>
        <p:nvSpPr>
          <p:cNvPr id="4" name="stat card"/>
          <p:cNvSpPr/>
          <p:nvPr/>
        </p:nvSpPr>
        <p:spPr>
          <a:xfrm>
            <a:off x="548640" y="1600200"/>
            <a:ext cx="4754880" cy="4434840"/>
          </a:xfrm>
          <a:prstGeom prst="roundRect">
            <a:avLst>
              <a:gd name="adj" fmla="val 6186"/>
            </a:avLst>
          </a:prstGeom>
          <a:solidFill>
            <a:srgbClr val="3F6959"/>
          </a:solidFill>
          <a:ln w="12700">
            <a:solidFill>
              <a:srgbClr val="3F69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60120" y="1920240"/>
            <a:ext cx="4114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0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13%</a:t>
            </a:r>
            <a:endParaRPr lang="en-US" sz="9600" dirty="0"/>
          </a:p>
        </p:txBody>
      </p:sp>
      <p:sp>
        <p:nvSpPr>
          <p:cNvPr id="6" name="Text 4"/>
          <p:cNvSpPr txBox="1"/>
          <p:nvPr/>
        </p:nvSpPr>
        <p:spPr>
          <a:xfrm>
            <a:off x="960120" y="356616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FF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women who have just given birth experience a mental disorder — primarily depression.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960120" y="544068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World Health Organization, maternal mental health.</a:t>
            </a:r>
            <a:endParaRPr lang="en-US" sz="1100" dirty="0"/>
          </a:p>
        </p:txBody>
      </p:sp>
      <p:sp>
        <p:nvSpPr>
          <p:cNvPr id="8" name="problem icon bg 1"/>
          <p:cNvSpPr/>
          <p:nvPr/>
        </p:nvSpPr>
        <p:spPr>
          <a:xfrm>
            <a:off x="5897880" y="1645920"/>
            <a:ext cx="658368" cy="658368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9" name="problem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44184" y="1792224"/>
            <a:ext cx="365760" cy="36576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812280" y="16276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3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 follows the baby</a:t>
            </a:r>
            <a:endParaRPr lang="en-US" sz="2000" dirty="0"/>
          </a:p>
        </p:txBody>
      </p:sp>
      <p:sp>
        <p:nvSpPr>
          <p:cNvPr id="11" name="Text 8"/>
          <p:cNvSpPr txBox="1"/>
          <p:nvPr/>
        </p:nvSpPr>
        <p:spPr>
          <a:xfrm>
            <a:off x="6812280" y="2039112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Visits, checklists and apps are built around the newborn. The mother’s sleep, pain and mood are nobody’s job.</a:t>
            </a:r>
            <a:endParaRPr lang="en-US" sz="1400" dirty="0"/>
          </a:p>
        </p:txBody>
      </p:sp>
      <p:sp>
        <p:nvSpPr>
          <p:cNvPr id="12" name="problem icon bg 2"/>
          <p:cNvSpPr/>
          <p:nvPr/>
        </p:nvSpPr>
        <p:spPr>
          <a:xfrm>
            <a:off x="5897880" y="3127248"/>
            <a:ext cx="658368" cy="658368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13" name="problem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4184" y="3273552"/>
            <a:ext cx="365760" cy="36576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812280" y="310896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3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Alone after week six</a:t>
            </a:r>
            <a:endParaRPr lang="en-US" sz="2000" dirty="0"/>
          </a:p>
        </p:txBody>
      </p:sp>
      <p:sp>
        <p:nvSpPr>
          <p:cNvPr id="15" name="Text 11"/>
          <p:cNvSpPr txBox="1"/>
          <p:nvPr/>
        </p:nvSpPr>
        <p:spPr>
          <a:xfrm>
            <a:off x="6812280" y="3520440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the 6-week check-up the system goes quiet — right when exhaustion peaks and “baby blues” can turn into depression.</a:t>
            </a:r>
            <a:endParaRPr lang="en-US" sz="1400" dirty="0"/>
          </a:p>
        </p:txBody>
      </p:sp>
      <p:sp>
        <p:nvSpPr>
          <p:cNvPr id="16" name="problem icon bg 3"/>
          <p:cNvSpPr/>
          <p:nvPr/>
        </p:nvSpPr>
        <p:spPr>
          <a:xfrm>
            <a:off x="5897880" y="4608576"/>
            <a:ext cx="658368" cy="658368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17" name="problem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4184" y="475488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6812280" y="4590288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25342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Apps count days, not feelings</a:t>
            </a:r>
            <a:endParaRPr lang="en-US" sz="2000" dirty="0"/>
          </a:p>
        </p:txBody>
      </p:sp>
      <p:sp>
        <p:nvSpPr>
          <p:cNvPr id="19" name="Text 14"/>
          <p:cNvSpPr txBox="1"/>
          <p:nvPr/>
        </p:nvSpPr>
        <p:spPr>
          <a:xfrm>
            <a:off x="6812280" y="5001768"/>
            <a:ext cx="4800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Cycle trackers predict periods. None of them help on a hard day, or notice when “a bad week” is something more.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WE BUILD FOR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Marta, day 39 after a C-section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00200"/>
            <a:ext cx="6035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i="1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“Is this still baby blues, or should I tell someone?”</a:t>
            </a:r>
            <a:endParaRPr lang="en-US" sz="2400" dirty="0"/>
          </a:p>
        </p:txBody>
      </p:sp>
      <p:sp>
        <p:nvSpPr>
          <p:cNvPr id="5" name="fact card 1"/>
          <p:cNvSpPr/>
          <p:nvPr/>
        </p:nvSpPr>
        <p:spPr>
          <a:xfrm>
            <a:off x="548640" y="2788920"/>
            <a:ext cx="1828800" cy="1280160"/>
          </a:xfrm>
          <a:prstGeom prst="roundRect">
            <a:avLst>
              <a:gd name="adj" fmla="val 14286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39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days postpartum</a:t>
            </a:r>
            <a:endParaRPr lang="en-US" sz="1300" dirty="0"/>
          </a:p>
        </p:txBody>
      </p:sp>
      <p:sp>
        <p:nvSpPr>
          <p:cNvPr id="8" name="fact card 2"/>
          <p:cNvSpPr/>
          <p:nvPr/>
        </p:nvSpPr>
        <p:spPr>
          <a:xfrm>
            <a:off x="2560320" y="2788920"/>
            <a:ext cx="1828800" cy="1280160"/>
          </a:xfrm>
          <a:prstGeom prst="roundRect">
            <a:avLst>
              <a:gd name="adj" fmla="val 14286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1488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4.4 h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2761488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sleep</a:t>
            </a:r>
            <a:endParaRPr lang="en-US" sz="1300" dirty="0"/>
          </a:p>
        </p:txBody>
      </p:sp>
      <p:sp>
        <p:nvSpPr>
          <p:cNvPr id="11" name="fact card 3"/>
          <p:cNvSpPr/>
          <p:nvPr/>
        </p:nvSpPr>
        <p:spPr>
          <a:xfrm>
            <a:off x="4572000" y="2788920"/>
            <a:ext cx="1828800" cy="1280160"/>
          </a:xfrm>
          <a:prstGeom prst="roundRect">
            <a:avLst>
              <a:gd name="adj" fmla="val 14286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29260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2.5 / 5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4773168" y="35661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mood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4343400"/>
            <a:ext cx="6035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Breastfeeding, recovering from surgery, partner back at work. She will not open a medical app at 3 a.m. — but she will tap a number between 1 and 5.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Also for Kasia, 29: </a:t>
            </a:r>
            <a:pPr indent="0" marL="0">
              <a:buNone/>
            </a:pPr>
            <a:r>
              <a:rPr lang="en-US" sz="15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baby, but mood swings across her cycle she wants to understand and get ahead of.</a:t>
            </a:r>
            <a:endParaRPr lang="en-US" sz="1500" dirty="0"/>
          </a:p>
        </p:txBody>
      </p:sp>
      <p:pic>
        <p:nvPicPr>
          <p:cNvPr id="15" name="phone mobile-checkin" descr="assets/mobile-check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502920"/>
            <a:ext cx="2704197" cy="585216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374C42">
                <a:alpha val="18000"/>
              </a:srgbClr>
            </a:outerShdw>
          </a:effectLst>
        </p:spPr>
      </p:pic>
      <p:sp>
        <p:nvSpPr>
          <p:cNvPr id="16" name="Text 13"/>
          <p:cNvSpPr txBox="1"/>
          <p:nvPr/>
        </p:nvSpPr>
        <p:spPr>
          <a:xfrm>
            <a:off x="6949440" y="6382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30-second daily check-in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minute a day, and someone who notices</a:t>
            </a:r>
            <a:endParaRPr lang="en-US" sz="3200" dirty="0"/>
          </a:p>
        </p:txBody>
      </p:sp>
      <p:pic>
        <p:nvPicPr>
          <p:cNvPr id="4" name="desktop today" descr="assets/desktop-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22215" y="1463040"/>
            <a:ext cx="6720840" cy="4200525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374C42">
                <a:alpha val="18000"/>
              </a:srgbClr>
            </a:outerShdw>
          </a:effectLst>
        </p:spPr>
      </p:pic>
      <p:sp>
        <p:nvSpPr>
          <p:cNvPr id="5" name="pillar icon bg 1"/>
          <p:cNvSpPr/>
          <p:nvPr/>
        </p:nvSpPr>
        <p:spPr>
          <a:xfrm>
            <a:off x="548640" y="1481328"/>
            <a:ext cx="548640" cy="548640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6" name="pillar icon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1609344"/>
            <a:ext cx="292608" cy="292608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280160" y="14447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check-in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280160" y="17739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Mood, sleep, energy, pain — 30 seconds, one hand.</a:t>
            </a:r>
            <a:endParaRPr lang="en-US" sz="1300" dirty="0"/>
          </a:p>
        </p:txBody>
      </p:sp>
      <p:sp>
        <p:nvSpPr>
          <p:cNvPr id="9" name="pillar icon bg 2"/>
          <p:cNvSpPr/>
          <p:nvPr/>
        </p:nvSpPr>
        <p:spPr>
          <a:xfrm>
            <a:off x="548640" y="2395728"/>
            <a:ext cx="548640" cy="548640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10" name="pillar icon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2523744"/>
            <a:ext cx="292608" cy="29260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280160" y="23591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Tough-day mode</a:t>
            </a:r>
            <a:endParaRPr lang="en-US" sz="1600" dirty="0"/>
          </a:p>
        </p:txBody>
      </p:sp>
      <p:sp>
        <p:nvSpPr>
          <p:cNvPr id="12" name="Text 7"/>
          <p:cNvSpPr txBox="1"/>
          <p:nvPr/>
        </p:nvSpPr>
        <p:spPr>
          <a:xfrm>
            <a:off x="1280160" y="26883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Breathing first, then what helped you before.</a:t>
            </a:r>
            <a:endParaRPr lang="en-US" sz="1300" dirty="0"/>
          </a:p>
        </p:txBody>
      </p:sp>
      <p:sp>
        <p:nvSpPr>
          <p:cNvPr id="13" name="pillar icon bg 3"/>
          <p:cNvSpPr/>
          <p:nvPr/>
        </p:nvSpPr>
        <p:spPr>
          <a:xfrm>
            <a:off x="548640" y="3310128"/>
            <a:ext cx="548640" cy="548640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14" name="pillar icon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3438144"/>
            <a:ext cx="292608" cy="292608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1280160" y="3273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Goals &amp; reminders</a:t>
            </a:r>
            <a:endParaRPr lang="en-US" sz="1600" dirty="0"/>
          </a:p>
        </p:txBody>
      </p:sp>
      <p:sp>
        <p:nvSpPr>
          <p:cNvPr id="16" name="Text 10"/>
          <p:cNvSpPr txBox="1"/>
          <p:nvPr/>
        </p:nvSpPr>
        <p:spPr>
          <a:xfrm>
            <a:off x="1280160" y="36027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Tiny steps she sets herself, with push reminders.</a:t>
            </a:r>
            <a:endParaRPr lang="en-US" sz="1300" dirty="0"/>
          </a:p>
        </p:txBody>
      </p:sp>
      <p:sp>
        <p:nvSpPr>
          <p:cNvPr id="17" name="pillar icon bg 4"/>
          <p:cNvSpPr/>
          <p:nvPr/>
        </p:nvSpPr>
        <p:spPr>
          <a:xfrm>
            <a:off x="548640" y="4224528"/>
            <a:ext cx="548640" cy="548640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18" name="pillar icon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4352544"/>
            <a:ext cx="292608" cy="292608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1280160" y="41879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Knowledge</a:t>
            </a:r>
            <a:endParaRPr lang="en-US" sz="1600" dirty="0"/>
          </a:p>
        </p:txBody>
      </p:sp>
      <p:sp>
        <p:nvSpPr>
          <p:cNvPr id="20" name="Text 13"/>
          <p:cNvSpPr txBox="1"/>
          <p:nvPr/>
        </p:nvSpPr>
        <p:spPr>
          <a:xfrm>
            <a:off x="1280160" y="45171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calm, sourced articles for her week.</a:t>
            </a:r>
            <a:endParaRPr lang="en-US" sz="1300" dirty="0"/>
          </a:p>
        </p:txBody>
      </p:sp>
      <p:sp>
        <p:nvSpPr>
          <p:cNvPr id="21" name="pillar icon bg 5"/>
          <p:cNvSpPr/>
          <p:nvPr/>
        </p:nvSpPr>
        <p:spPr>
          <a:xfrm>
            <a:off x="548640" y="5138928"/>
            <a:ext cx="548640" cy="548640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22" name="pillar icon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" y="5266944"/>
            <a:ext cx="292608" cy="292608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1280160" y="51023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net</a:t>
            </a:r>
            <a:endParaRPr lang="en-US" sz="1600" dirty="0"/>
          </a:p>
        </p:txBody>
      </p:sp>
      <p:sp>
        <p:nvSpPr>
          <p:cNvPr id="24" name="Text 16"/>
          <p:cNvSpPr txBox="1"/>
          <p:nvPr/>
        </p:nvSpPr>
        <p:spPr>
          <a:xfrm>
            <a:off x="1280160" y="543153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EPDS screening, red flags, crisis help.</a:t>
            </a:r>
            <a:endParaRPr lang="en-US" sz="1300" dirty="0"/>
          </a:p>
        </p:txBody>
      </p:sp>
      <p:sp>
        <p:nvSpPr>
          <p:cNvPr id="25" name="Text 17"/>
          <p:cNvSpPr txBox="1"/>
          <p:nvPr/>
        </p:nvSpPr>
        <p:spPr>
          <a:xfrm>
            <a:off x="4922215" y="5806440"/>
            <a:ext cx="6720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PWA: phone, tablet and desktop · Polish and English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NEW · 1 /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that learns what actually helps her</a:t>
            </a:r>
            <a:endParaRPr lang="en-US" sz="3200" dirty="0"/>
          </a:p>
        </p:txBody>
      </p:sp>
      <p:sp>
        <p:nvSpPr>
          <p:cNvPr id="4" name="step dot 1"/>
          <p:cNvSpPr/>
          <p:nvPr/>
        </p:nvSpPr>
        <p:spPr>
          <a:xfrm>
            <a:off x="548640" y="1554480"/>
            <a:ext cx="566928" cy="566928"/>
          </a:xfrm>
          <a:prstGeom prst="ellipse">
            <a:avLst/>
          </a:prstGeom>
          <a:solidFill>
            <a:srgbClr val="FFFDF9"/>
          </a:solidFill>
          <a:ln w="15875">
            <a:solidFill>
              <a:srgbClr val="3F69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15544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536192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tells us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325880" y="1883664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Onboarding asks what helps on hard days — a walk, a call, a nap — and what drains her.</a:t>
            </a:r>
            <a:endParaRPr lang="en-US" sz="1400" dirty="0"/>
          </a:p>
        </p:txBody>
      </p:sp>
      <p:sp>
        <p:nvSpPr>
          <p:cNvPr id="8" name="step dot 2"/>
          <p:cNvSpPr/>
          <p:nvPr/>
        </p:nvSpPr>
        <p:spPr>
          <a:xfrm>
            <a:off x="548640" y="2633472"/>
            <a:ext cx="566928" cy="566928"/>
          </a:xfrm>
          <a:prstGeom prst="ellipse">
            <a:avLst/>
          </a:prstGeom>
          <a:solidFill>
            <a:srgbClr val="FFFDF9"/>
          </a:solidFill>
          <a:ln w="15875">
            <a:solidFill>
              <a:srgbClr val="3F6959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2633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Text 8"/>
          <p:cNvSpPr txBox="1"/>
          <p:nvPr/>
        </p:nvSpPr>
        <p:spPr>
          <a:xfrm>
            <a:off x="1325880" y="2615184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day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2962656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tap on the heart: a minute of breathing, then her top strategies, ranked.</a:t>
            </a:r>
            <a:endParaRPr lang="en-US" sz="1400" dirty="0"/>
          </a:p>
        </p:txBody>
      </p:sp>
      <p:sp>
        <p:nvSpPr>
          <p:cNvPr id="12" name="step dot 3"/>
          <p:cNvSpPr/>
          <p:nvPr/>
        </p:nvSpPr>
        <p:spPr>
          <a:xfrm>
            <a:off x="548640" y="3712464"/>
            <a:ext cx="566928" cy="566928"/>
          </a:xfrm>
          <a:prstGeom prst="ellipse">
            <a:avLst/>
          </a:prstGeom>
          <a:solidFill>
            <a:srgbClr val="FFFDF9"/>
          </a:solidFill>
          <a:ln w="15875">
            <a:solidFill>
              <a:srgbClr val="3F6959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7124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3694176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“Did it help?”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325880" y="4041648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 · a bit · no. Each answer updates a Bayesian score per strategy.</a:t>
            </a:r>
            <a:endParaRPr lang="en-US" sz="1400" dirty="0"/>
          </a:p>
        </p:txBody>
      </p:sp>
      <p:sp>
        <p:nvSpPr>
          <p:cNvPr id="16" name="step dot 4"/>
          <p:cNvSpPr/>
          <p:nvPr/>
        </p:nvSpPr>
        <p:spPr>
          <a:xfrm>
            <a:off x="548640" y="4791456"/>
            <a:ext cx="566928" cy="566928"/>
          </a:xfrm>
          <a:prstGeom prst="ellipse">
            <a:avLst/>
          </a:prstGeom>
          <a:solidFill>
            <a:srgbClr val="3F6959"/>
          </a:solidFill>
          <a:ln w="15875">
            <a:solidFill>
              <a:srgbClr val="3F6959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7914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1325880" y="4773168"/>
            <a:ext cx="5120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adapts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1325880" y="5120640"/>
            <a:ext cx="5212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time the list is reordered — with the evidence shown back to her.</a:t>
            </a:r>
            <a:endParaRPr lang="en-US" sz="1400" dirty="0"/>
          </a:p>
        </p:txBody>
      </p:sp>
      <p:sp>
        <p:nvSpPr>
          <p:cNvPr id="20" name="evidence card"/>
          <p:cNvSpPr/>
          <p:nvPr/>
        </p:nvSpPr>
        <p:spPr>
          <a:xfrm>
            <a:off x="6583680" y="2194560"/>
            <a:ext cx="2331720" cy="2377440"/>
          </a:xfrm>
          <a:prstGeom prst="roundRect">
            <a:avLst>
              <a:gd name="adj" fmla="val 9804"/>
            </a:avLst>
          </a:prstGeom>
          <a:solidFill>
            <a:srgbClr val="3F6959"/>
          </a:solidFill>
          <a:ln w="12700">
            <a:solidFill>
              <a:srgbClr val="3F6959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812280" y="242316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of 4</a:t>
            </a:r>
            <a:endParaRPr lang="en-US" sz="4400" dirty="0"/>
          </a:p>
        </p:txBody>
      </p:sp>
      <p:sp>
        <p:nvSpPr>
          <p:cNvPr id="22" name="Text 20"/>
          <p:cNvSpPr txBox="1"/>
          <p:nvPr/>
        </p:nvSpPr>
        <p:spPr>
          <a:xfrm>
            <a:off x="6812280" y="3291840"/>
            <a:ext cx="1965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harder days a short walk helped Marta — so it is suggested first.</a:t>
            </a:r>
            <a:endParaRPr lang="en-US" sz="1400" dirty="0"/>
          </a:p>
        </p:txBody>
      </p:sp>
      <p:pic>
        <p:nvPicPr>
          <p:cNvPr id="23" name="phone mobile-toughday-strategies" descr="assets/mobile-toughday-strateg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9720" y="502920"/>
            <a:ext cx="2366173" cy="512064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374C42">
                <a:alpha val="18000"/>
              </a:srgbClr>
            </a:outerShdw>
          </a:effectLst>
        </p:spPr>
      </p:pic>
      <p:sp>
        <p:nvSpPr>
          <p:cNvPr id="24" name="Text 21"/>
          <p:cNvSpPr txBox="1"/>
          <p:nvPr/>
        </p:nvSpPr>
        <p:spPr>
          <a:xfrm>
            <a:off x="8869680" y="57607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Tough day, step 3: ranked strategies + ask Tomek for help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0A46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NEW · 2 /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rgbClr val="F3E6D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a.m. is not lonely anymore</a:t>
            </a:r>
            <a:endParaRPr lang="en-US" sz="3200" dirty="0"/>
          </a:p>
        </p:txBody>
      </p:sp>
      <p:pic>
        <p:nvPicPr>
          <p:cNvPr id="4" name="phone mobile-night" descr="assets/mobile-n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2239413" cy="4846320"/>
          </a:xfrm>
          <a:prstGeom prst="rect">
            <a:avLst/>
          </a:prstGeom>
          <a:effectLst>
            <a:outerShdw sx="100000" sy="100000" kx="0" ky="0" algn="bl" rotWithShape="0" blurRad="254000" dist="76200" dir="5400000">
              <a:srgbClr val="000000">
                <a:alpha val="50000"/>
              </a:srgbClr>
            </a:outerShdw>
          </a:effectLst>
        </p:spPr>
      </p:pic>
      <p:sp>
        <p:nvSpPr>
          <p:cNvPr id="5" name="Text 2"/>
          <p:cNvSpPr txBox="1"/>
          <p:nvPr/>
        </p:nvSpPr>
        <p:spPr>
          <a:xfrm>
            <a:off x="3108093" y="15087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0A4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Night Shift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3108093" y="201168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22:00 to 6:00 the app turns warm and dim: big one-hand buttons, a 1-tap check-in, breathing, “can’t sleep”, and a note for the morning.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3108093" y="384048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E0A4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“12 mums from Otula are awake right now.”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3108093" y="470916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8A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Anonymous count, hidden below 5 people.</a:t>
            </a:r>
            <a:endParaRPr lang="en-US" sz="1100" dirty="0"/>
          </a:p>
        </p:txBody>
      </p:sp>
      <p:pic>
        <p:nvPicPr>
          <p:cNvPr id="9" name="phone mobile-circle-public" descr="assets/mobile-circle-publ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1417320"/>
            <a:ext cx="2239413" cy="4846320"/>
          </a:xfrm>
          <a:prstGeom prst="rect">
            <a:avLst/>
          </a:prstGeom>
          <a:effectLst>
            <a:outerShdw sx="100000" sy="100000" kx="0" ky="0" algn="bl" rotWithShape="0" blurRad="254000" dist="76200" dir="5400000">
              <a:srgbClr val="000000">
                <a:alpha val="50000"/>
              </a:srgbClr>
            </a:outerShdw>
          </a:effectLst>
        </p:spPr>
      </p:pic>
      <p:sp>
        <p:nvSpPr>
          <p:cNvPr id="10" name="Text 6"/>
          <p:cNvSpPr txBox="1"/>
          <p:nvPr/>
        </p:nvSpPr>
        <p:spPr>
          <a:xfrm>
            <a:off x="9463173" y="150876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E0A4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circle</a:t>
            </a:r>
            <a:endParaRPr lang="en-US" sz="2200" dirty="0"/>
          </a:p>
        </p:txBody>
      </p:sp>
      <p:sp>
        <p:nvSpPr>
          <p:cNvPr id="11" name="Text 7"/>
          <p:cNvSpPr txBox="1"/>
          <p:nvPr/>
        </p:nvSpPr>
        <p:spPr>
          <a:xfrm>
            <a:off x="9463173" y="2011680"/>
            <a:ext cx="2514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6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She lists concrete asks — dinner on Thursday, the 2 a.m. feed. Family opens a link, no account, and taps “I’ll take it”. She gets a push.</a:t>
            </a:r>
            <a:endParaRPr lang="en-US" sz="1400" dirty="0"/>
          </a:p>
        </p:txBody>
      </p:sp>
      <p:sp>
        <p:nvSpPr>
          <p:cNvPr id="12" name="Text 8"/>
          <p:cNvSpPr txBox="1"/>
          <p:nvPr/>
        </p:nvSpPr>
        <p:spPr>
          <a:xfrm>
            <a:off x="9463173" y="425196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E0A4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Turns “let me know if you need anything” into real help.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B8A88F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NEW · 3 / 3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daily taps to a report for the midwife</a:t>
            </a:r>
            <a:endParaRPr lang="en-US" sz="3200" dirty="0"/>
          </a:p>
        </p:txBody>
      </p:sp>
      <p:pic>
        <p:nvPicPr>
          <p:cNvPr id="4" name="patterns screenshot" descr="assets/patterns-mai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23560" y="1371600"/>
            <a:ext cx="4754880" cy="4462272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374C42">
                <a:alpha val="18000"/>
              </a:srgbClr>
            </a:outerShdw>
          </a:effectLst>
        </p:spPr>
      </p:pic>
      <p:pic>
        <p:nvPicPr>
          <p:cNvPr id="5" name="report screenshot" descr="assets/report-to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6735" y="3429000"/>
            <a:ext cx="4846320" cy="287750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374C42">
                <a:alpha val="18000"/>
              </a:srgbClr>
            </a:outerShdw>
          </a:effectLst>
        </p:spPr>
      </p:pic>
      <p:sp>
        <p:nvSpPr>
          <p:cNvPr id="6" name="Text 2"/>
          <p:cNvSpPr txBox="1"/>
          <p:nvPr/>
        </p:nvSpPr>
        <p:spPr>
          <a:xfrm>
            <a:off x="548640" y="16002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+24%</a:t>
            </a:r>
            <a:endParaRPr lang="en-US" sz="3400" dirty="0"/>
          </a:p>
        </p:txBody>
      </p:sp>
      <p:sp>
        <p:nvSpPr>
          <p:cNvPr id="7" name="Text 3"/>
          <p:cNvSpPr txBox="1"/>
          <p:nvPr/>
        </p:nvSpPr>
        <p:spPr>
          <a:xfrm>
            <a:off x="2331720" y="164592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mood after nights with ≥ 6 h of sleep — patterns are written as sentences, with notes on the chart.</a:t>
            </a:r>
            <a:endParaRPr lang="en-US" sz="14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306324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tap</a:t>
            </a:r>
            <a:endParaRPr lang="en-US" sz="3400" dirty="0"/>
          </a:p>
        </p:txBody>
      </p:sp>
      <p:sp>
        <p:nvSpPr>
          <p:cNvPr id="9" name="Text 5"/>
          <p:cNvSpPr txBox="1"/>
          <p:nvPr/>
        </p:nvSpPr>
        <p:spPr>
          <a:xfrm>
            <a:off x="2331720" y="310896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builds a printable visit report: mood &amp; sleep, EPDS trend, symptoms, red flags and her own questions.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52628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a.m.</a:t>
            </a:r>
            <a:endParaRPr lang="en-US" sz="3400" dirty="0"/>
          </a:p>
        </p:txBody>
      </p:sp>
      <p:sp>
        <p:nvSpPr>
          <p:cNvPr id="11" name="Text 7"/>
          <p:cNvSpPr txBox="1"/>
          <p:nvPr/>
        </p:nvSpPr>
        <p:spPr>
          <a:xfrm>
            <a:off x="2331720" y="45720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“Save as a question for my visit” — thoughts captured when they happen, not forgotten in the office.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BY DESIGN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Kind by default, serious when it matters</a:t>
            </a:r>
            <a:endParaRPr lang="en-US" sz="3200" dirty="0"/>
          </a:p>
        </p:txBody>
      </p:sp>
      <p:sp>
        <p:nvSpPr>
          <p:cNvPr id="4" name="safety card 1"/>
          <p:cNvSpPr/>
          <p:nvPr/>
        </p:nvSpPr>
        <p:spPr>
          <a:xfrm>
            <a:off x="548640" y="1508760"/>
            <a:ext cx="3520440" cy="2103120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5" name="safety icon bg 1"/>
          <p:cNvSpPr/>
          <p:nvPr/>
        </p:nvSpPr>
        <p:spPr>
          <a:xfrm>
            <a:off x="822960" y="1783080"/>
            <a:ext cx="566928" cy="566928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6" name="safety icon 1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920240"/>
            <a:ext cx="292608" cy="29260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82296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EPDS screening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8072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validated Edinburgh scale every 14 days postpartum, with a trend over time.</a:t>
            </a:r>
            <a:endParaRPr lang="en-US" sz="1300" dirty="0"/>
          </a:p>
        </p:txBody>
      </p:sp>
      <p:sp>
        <p:nvSpPr>
          <p:cNvPr id="9" name="safety card 2"/>
          <p:cNvSpPr/>
          <p:nvPr/>
        </p:nvSpPr>
        <p:spPr>
          <a:xfrm>
            <a:off x="4297680" y="1508760"/>
            <a:ext cx="3520440" cy="2103120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10" name="safety icon bg 2"/>
          <p:cNvSpPr/>
          <p:nvPr/>
        </p:nvSpPr>
        <p:spPr>
          <a:xfrm>
            <a:off x="4572000" y="1783080"/>
            <a:ext cx="566928" cy="566928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11" name="safety icon 2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9160" y="1920240"/>
            <a:ext cx="292608" cy="292608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457200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engine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4572000" y="28072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transparent rules over check-ins and EPDS: from a gentle nudge to urgent help.</a:t>
            </a:r>
            <a:endParaRPr lang="en-US" sz="1300" dirty="0"/>
          </a:p>
        </p:txBody>
      </p:sp>
      <p:sp>
        <p:nvSpPr>
          <p:cNvPr id="14" name="safety card 3"/>
          <p:cNvSpPr/>
          <p:nvPr/>
        </p:nvSpPr>
        <p:spPr>
          <a:xfrm>
            <a:off x="8046720" y="1508760"/>
            <a:ext cx="3520440" cy="2103120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15" name="safety icon bg 3"/>
          <p:cNvSpPr/>
          <p:nvPr/>
        </p:nvSpPr>
        <p:spPr>
          <a:xfrm>
            <a:off x="8321040" y="1783080"/>
            <a:ext cx="566928" cy="566928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16" name="safety icon 3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0" y="1920240"/>
            <a:ext cx="292608" cy="29260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832104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 flags after birth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8321040" y="280720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Heavy bleeding, fever, chest pain… one tap shows “call a doctor now” with tel: links.</a:t>
            </a:r>
            <a:endParaRPr lang="en-US" sz="1300" dirty="0"/>
          </a:p>
        </p:txBody>
      </p:sp>
      <p:sp>
        <p:nvSpPr>
          <p:cNvPr id="19" name="safety card 4"/>
          <p:cNvSpPr/>
          <p:nvPr/>
        </p:nvSpPr>
        <p:spPr>
          <a:xfrm>
            <a:off x="548640" y="3840480"/>
            <a:ext cx="3520440" cy="2103120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20" name="safety icon bg 4"/>
          <p:cNvSpPr/>
          <p:nvPr/>
        </p:nvSpPr>
        <p:spPr>
          <a:xfrm>
            <a:off x="822960" y="4114800"/>
            <a:ext cx="566928" cy="566928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21" name="safety icon 4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251960"/>
            <a:ext cx="292608" cy="292608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2296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Crisis page, no login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822960" y="51389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112 and Polish crisis lines, two taps from every screen — even logged out.</a:t>
            </a:r>
            <a:endParaRPr lang="en-US" sz="1300" dirty="0"/>
          </a:p>
        </p:txBody>
      </p:sp>
      <p:sp>
        <p:nvSpPr>
          <p:cNvPr id="24" name="safety card 5"/>
          <p:cNvSpPr/>
          <p:nvPr/>
        </p:nvSpPr>
        <p:spPr>
          <a:xfrm>
            <a:off x="4297680" y="3840480"/>
            <a:ext cx="3520440" cy="2103120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25" name="safety icon bg 5"/>
          <p:cNvSpPr/>
          <p:nvPr/>
        </p:nvSpPr>
        <p:spPr>
          <a:xfrm>
            <a:off x="4572000" y="4114800"/>
            <a:ext cx="566928" cy="566928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26" name="safety icon 5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9160" y="4251960"/>
            <a:ext cx="292608" cy="292608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457200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a diagnosis</a:t>
            </a:r>
            <a:endParaRPr lang="en-US" sz="1600" dirty="0"/>
          </a:p>
        </p:txBody>
      </p:sp>
      <p:sp>
        <p:nvSpPr>
          <p:cNvPr id="28" name="Text 21"/>
          <p:cNvSpPr txBox="1"/>
          <p:nvPr/>
        </p:nvSpPr>
        <p:spPr>
          <a:xfrm>
            <a:off x="4572000" y="51389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“Your result suggests it may help to talk to a specialist” — not “you have depression”.</a:t>
            </a:r>
            <a:endParaRPr lang="en-US" sz="1300" dirty="0"/>
          </a:p>
        </p:txBody>
      </p:sp>
      <p:sp>
        <p:nvSpPr>
          <p:cNvPr id="29" name="safety card 6"/>
          <p:cNvSpPr/>
          <p:nvPr/>
        </p:nvSpPr>
        <p:spPr>
          <a:xfrm>
            <a:off x="8046720" y="3840480"/>
            <a:ext cx="3520440" cy="2103120"/>
          </a:xfrm>
          <a:prstGeom prst="roundRect">
            <a:avLst>
              <a:gd name="adj" fmla="val 8696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30" name="safety icon bg 6"/>
          <p:cNvSpPr/>
          <p:nvPr/>
        </p:nvSpPr>
        <p:spPr>
          <a:xfrm>
            <a:off x="8321040" y="4114800"/>
            <a:ext cx="566928" cy="566928"/>
          </a:xfrm>
          <a:prstGeom prst="ellipse">
            <a:avLst/>
          </a:prstGeom>
          <a:solidFill>
            <a:srgbClr val="DFEAE2"/>
          </a:solidFill>
          <a:ln w="12700">
            <a:solidFill>
              <a:srgbClr val="DFEAE2"/>
            </a:solidFill>
            <a:prstDash val="solid"/>
          </a:ln>
        </p:spPr>
      </p:sp>
      <p:pic>
        <p:nvPicPr>
          <p:cNvPr id="31" name="safety icon 6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8200" y="4251960"/>
            <a:ext cx="292608" cy="292608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8321040" y="48006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by design</a:t>
            </a:r>
            <a:endParaRPr lang="en-US" sz="1600" dirty="0"/>
          </a:p>
        </p:txBody>
      </p:sp>
      <p:sp>
        <p:nvSpPr>
          <p:cNvPr id="33" name="Text 25"/>
          <p:cNvSpPr txBox="1"/>
          <p:nvPr/>
        </p:nvSpPr>
        <p:spPr>
          <a:xfrm>
            <a:off x="8321040" y="513892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 encrypted at rest, JSON export, one-click delete, no trackers (GDPR).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2" type="body" hasCustomPrompt="1"/>
          </p:nvPr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chemeClr val="accent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IN 24 HOURS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411480"/>
            <a:ext cx="8503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dirty="0">
                <a:solidFill>
                  <a:schemeClr val="tx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working product, not a mock-up</a:t>
            </a:r>
            <a:endParaRPr lang="en-US" sz="3200" dirty="0"/>
          </a:p>
        </p:txBody>
      </p:sp>
      <p:sp>
        <p:nvSpPr>
          <p:cNvPr id="4" name="arch React PWA"/>
          <p:cNvSpPr/>
          <p:nvPr/>
        </p:nvSpPr>
        <p:spPr>
          <a:xfrm>
            <a:off x="548640" y="1600200"/>
            <a:ext cx="3017520" cy="868680"/>
          </a:xfrm>
          <a:prstGeom prst="roundRect">
            <a:avLst>
              <a:gd name="adj" fmla="val 15789"/>
            </a:avLst>
          </a:prstGeom>
          <a:solidFill>
            <a:srgbClr val="3F6959"/>
          </a:solidFill>
          <a:ln w="12700">
            <a:solidFill>
              <a:srgbClr val="3F6959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1719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PWA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TypeScript · Vite · TanStack Query</a:t>
            </a:r>
            <a:endParaRPr lang="en-US" sz="1100" dirty="0"/>
          </a:p>
        </p:txBody>
      </p:sp>
      <p:sp>
        <p:nvSpPr>
          <p:cNvPr id="7" name="arch Django REST API"/>
          <p:cNvSpPr/>
          <p:nvPr/>
        </p:nvSpPr>
        <p:spPr>
          <a:xfrm>
            <a:off x="4206240" y="1600200"/>
            <a:ext cx="3017520" cy="868680"/>
          </a:xfrm>
          <a:prstGeom prst="roundRect">
            <a:avLst>
              <a:gd name="adj" fmla="val 15789"/>
            </a:avLst>
          </a:prstGeom>
          <a:solidFill>
            <a:srgbClr val="3F6959"/>
          </a:solidFill>
          <a:ln w="12700">
            <a:solidFill>
              <a:srgbClr val="3F6959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389120" y="1719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Django REST API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4389120" y="20574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 endpoints · JWT · OpenAPI</a:t>
            </a:r>
            <a:endParaRPr lang="en-US" sz="1100" dirty="0"/>
          </a:p>
        </p:txBody>
      </p:sp>
      <p:sp>
        <p:nvSpPr>
          <p:cNvPr id="10" name="arch PostgreSQL"/>
          <p:cNvSpPr/>
          <p:nvPr/>
        </p:nvSpPr>
        <p:spPr>
          <a:xfrm>
            <a:off x="4206240" y="2971800"/>
            <a:ext cx="3017520" cy="868680"/>
          </a:xfrm>
          <a:prstGeom prst="roundRect">
            <a:avLst>
              <a:gd name="adj" fmla="val 15789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389120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38912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notes</a:t>
            </a:r>
            <a:endParaRPr lang="en-US" sz="1100" dirty="0"/>
          </a:p>
        </p:txBody>
      </p:sp>
      <p:sp>
        <p:nvSpPr>
          <p:cNvPr id="13" name="arch Celery + Redis"/>
          <p:cNvSpPr/>
          <p:nvPr/>
        </p:nvSpPr>
        <p:spPr>
          <a:xfrm>
            <a:off x="548640" y="2971800"/>
            <a:ext cx="3017520" cy="868680"/>
          </a:xfrm>
          <a:prstGeom prst="roundRect">
            <a:avLst>
              <a:gd name="adj" fmla="val 15789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1520" y="30906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Celery + Redis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4290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reminders · nightly jobs</a:t>
            </a:r>
            <a:endParaRPr lang="en-US" sz="1100" dirty="0"/>
          </a:p>
        </p:txBody>
      </p:sp>
      <p:sp>
        <p:nvSpPr>
          <p:cNvPr id="16" name="arch Web push"/>
          <p:cNvSpPr/>
          <p:nvPr/>
        </p:nvSpPr>
        <p:spPr>
          <a:xfrm>
            <a:off x="548640" y="4343400"/>
            <a:ext cx="3017520" cy="868680"/>
          </a:xfrm>
          <a:prstGeom prst="roundRect">
            <a:avLst>
              <a:gd name="adj" fmla="val 15789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31520" y="44622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 push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worker · VAPID</a:t>
            </a:r>
            <a:endParaRPr lang="en-US" sz="1100" dirty="0"/>
          </a:p>
        </p:txBody>
      </p:sp>
      <p:sp>
        <p:nvSpPr>
          <p:cNvPr id="19" name="arch Docker Compose"/>
          <p:cNvSpPr/>
          <p:nvPr/>
        </p:nvSpPr>
        <p:spPr>
          <a:xfrm>
            <a:off x="4206240" y="4343400"/>
            <a:ext cx="3017520" cy="868680"/>
          </a:xfrm>
          <a:prstGeom prst="roundRect">
            <a:avLst>
              <a:gd name="adj" fmla="val 15789"/>
            </a:avLst>
          </a:prstGeom>
          <a:solidFill>
            <a:srgbClr val="FFFDF9"/>
          </a:solidFill>
          <a:ln w="12700">
            <a:solidFill>
              <a:srgbClr val="E5E7D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389120" y="44622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4389120" y="4800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command: make up</a:t>
            </a:r>
            <a:endParaRPr lang="en-US" sz="1100" dirty="0"/>
          </a:p>
        </p:txBody>
      </p:sp>
      <p:pic>
        <p:nvPicPr>
          <p:cNvPr id="22" name="arrow pwa api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1874520"/>
            <a:ext cx="365760" cy="365760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001000" y="1554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295</a:t>
            </a:r>
            <a:endParaRPr lang="en-US" sz="3800" dirty="0"/>
          </a:p>
        </p:txBody>
      </p:sp>
      <p:sp>
        <p:nvSpPr>
          <p:cNvPr id="24" name="Text 21"/>
          <p:cNvSpPr txBox="1"/>
          <p:nvPr/>
        </p:nvSpPr>
        <p:spPr>
          <a:xfrm>
            <a:off x="8001000" y="2212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tests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001000" y="2697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51 + 2</a:t>
            </a:r>
            <a:endParaRPr lang="en-US" sz="3800" dirty="0"/>
          </a:p>
        </p:txBody>
      </p:sp>
      <p:sp>
        <p:nvSpPr>
          <p:cNvPr id="26" name="Text 23"/>
          <p:cNvSpPr txBox="1"/>
          <p:nvPr/>
        </p:nvSpPr>
        <p:spPr>
          <a:xfrm>
            <a:off x="8001000" y="3355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unit + end-to-end tests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8001000" y="3840480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dirty="0">
                <a:solidFill>
                  <a:srgbClr val="3F69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21</a:t>
            </a:r>
            <a:endParaRPr lang="en-US" sz="3800" dirty="0"/>
          </a:p>
        </p:txBody>
      </p:sp>
      <p:sp>
        <p:nvSpPr>
          <p:cNvPr id="28" name="Text 25"/>
          <p:cNvSpPr txBox="1"/>
          <p:nvPr/>
        </p:nvSpPr>
        <p:spPr>
          <a:xfrm>
            <a:off x="8001000" y="449884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screens, PL &amp; EN</a:t>
            </a:r>
            <a:endParaRPr lang="en-US" sz="1300" dirty="0"/>
          </a:p>
        </p:txBody>
      </p:sp>
      <p:sp>
        <p:nvSpPr>
          <p:cNvPr id="29" name="ai disclosure"/>
          <p:cNvSpPr/>
          <p:nvPr/>
        </p:nvSpPr>
        <p:spPr>
          <a:xfrm>
            <a:off x="548640" y="5440680"/>
            <a:ext cx="11094415" cy="777240"/>
          </a:xfrm>
          <a:prstGeom prst="roundRect">
            <a:avLst>
              <a:gd name="adj" fmla="val 17647"/>
            </a:avLst>
          </a:prstGeom>
          <a:solidFill>
            <a:srgbClr val="F1F5F0"/>
          </a:solidFill>
          <a:ln w="12700">
            <a:solidFill>
              <a:srgbClr val="DFEAE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22960" y="553212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342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How: </a:t>
            </a:r>
            <a:pPr indent="0" marL="0">
              <a:buNone/>
            </a:pPr>
            <a:r>
              <a:rPr lang="en-US" sz="1300" dirty="0">
                <a:solidFill>
                  <a:srgbClr val="5D6F6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AI coding agents (Meta Muse Code) working in parallel git worktrees on a shared API contract, with Claude Code integrating, testing and fixing — every merge verified against the real API in a browser.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20095" y="64008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D6F67"/>
                </a:solidFill>
                <a:latin typeface="Arial"/>
                <a:ea typeface="Arial"/>
                <a:cs typeface="Arial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9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NEXT STEPS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77240"/>
            <a:ext cx="6766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400" dirty="0">
                <a:solidFill>
                  <a:srgbClr val="FFFD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Otula covers the weeks when nobody else is watching.</a:t>
            </a:r>
            <a:endParaRPr lang="en-US" sz="3400" dirty="0"/>
          </a:p>
        </p:txBody>
      </p:sp>
      <p:sp>
        <p:nvSpPr>
          <p:cNvPr id="4" name="next dot 1"/>
          <p:cNvSpPr/>
          <p:nvPr/>
        </p:nvSpPr>
        <p:spPr>
          <a:xfrm>
            <a:off x="548640" y="2560320"/>
            <a:ext cx="384048" cy="384048"/>
          </a:xfrm>
          <a:prstGeom prst="ellipse">
            <a:avLst/>
          </a:prstGeom>
          <a:solidFill>
            <a:srgbClr val="E9B9A0"/>
          </a:solidFill>
          <a:ln w="12700">
            <a:solidFill>
              <a:srgbClr val="E9B9A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560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56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514600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with midwives and primary care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2880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Visit report as the bridge between home and the patronage visit.</a:t>
            </a:r>
            <a:endParaRPr lang="en-US" sz="1300" dirty="0"/>
          </a:p>
        </p:txBody>
      </p:sp>
      <p:sp>
        <p:nvSpPr>
          <p:cNvPr id="8" name="next dot 2"/>
          <p:cNvSpPr/>
          <p:nvPr/>
        </p:nvSpPr>
        <p:spPr>
          <a:xfrm>
            <a:off x="548640" y="3584448"/>
            <a:ext cx="384048" cy="384048"/>
          </a:xfrm>
          <a:prstGeom prst="ellipse">
            <a:avLst/>
          </a:prstGeom>
          <a:solidFill>
            <a:srgbClr val="E9B9A0"/>
          </a:solidFill>
          <a:ln w="12700">
            <a:solidFill>
              <a:srgbClr val="E9B9A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5844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56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538728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review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143000" y="3904488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 the Polish EPDS flow and risk thresholds with perinatal psychologists.</a:t>
            </a:r>
            <a:endParaRPr lang="en-US" sz="1300" dirty="0"/>
          </a:p>
        </p:txBody>
      </p:sp>
      <p:sp>
        <p:nvSpPr>
          <p:cNvPr id="12" name="next dot 3"/>
          <p:cNvSpPr/>
          <p:nvPr/>
        </p:nvSpPr>
        <p:spPr>
          <a:xfrm>
            <a:off x="548640" y="4608576"/>
            <a:ext cx="384048" cy="384048"/>
          </a:xfrm>
          <a:prstGeom prst="ellipse">
            <a:avLst/>
          </a:prstGeom>
          <a:solidFill>
            <a:srgbClr val="E9B9A0"/>
          </a:solidFill>
          <a:ln w="12700">
            <a:solidFill>
              <a:srgbClr val="E9B9A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46085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1564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562856"/>
            <a:ext cx="6035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D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 and foundations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143000" y="4928616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Circle and partner guide with maternal-health NGOs; verified helpline network.</a:t>
            </a:r>
            <a:endParaRPr lang="en-US" sz="1300" dirty="0"/>
          </a:p>
        </p:txBody>
      </p:sp>
      <p:sp>
        <p:nvSpPr>
          <p:cNvPr id="16" name="disclosure card"/>
          <p:cNvSpPr/>
          <p:nvPr/>
        </p:nvSpPr>
        <p:spPr>
          <a:xfrm>
            <a:off x="7818120" y="2514600"/>
            <a:ext cx="3840480" cy="2971800"/>
          </a:xfrm>
          <a:prstGeom prst="roundRect">
            <a:avLst>
              <a:gd name="adj" fmla="val 6154"/>
            </a:avLst>
          </a:prstGeom>
          <a:solidFill>
            <a:srgbClr val="315648"/>
          </a:solidFill>
          <a:ln w="12700">
            <a:solidFill>
              <a:srgbClr val="31564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092440" y="269748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5E1D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Resources &amp; disclosure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3108960"/>
            <a:ext cx="33832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EPDS — Cox, Holden &amp; Sagovsky, 1987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WHO maternal mental health data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source: Django, DRF, React, Vite, Recharts, Celery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AI: Meta Muse Code, Claude Code; design in Figma Make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DFEA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 and design drafted before the start; first code commits 22:55 on Oct 3 — full git history in the repo</a:t>
            </a:r>
            <a:endParaRPr lang="en-US" sz="1100" dirty="0"/>
          </a:p>
        </p:txBody>
      </p:sp>
      <p:pic>
        <p:nvPicPr>
          <p:cNvPr id="19" name="logo mark" descr="assets/petals-cr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806440"/>
            <a:ext cx="384048" cy="384048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1097280" y="5806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8F5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otula — care for the mother, not just the baby.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tula">
  <a:themeElements>
    <a:clrScheme name="Otula">
      <a:dk1>
        <a:srgbClr val="25342F"/>
      </a:dk1>
      <a:lt1>
        <a:srgbClr val="FFFDF9"/>
      </a:lt1>
      <a:dk2>
        <a:srgbClr val="315648"/>
      </a:dk2>
      <a:lt2>
        <a:srgbClr val="F8F5EF"/>
      </a:lt2>
      <a:accent1>
        <a:srgbClr val="3F6959"/>
      </a:accent1>
      <a:accent2>
        <a:srgbClr val="E9B9A0"/>
      </a:accent2>
      <a:accent3>
        <a:srgbClr val="DFEAE2"/>
      </a:accent3>
      <a:accent4>
        <a:srgbClr val="DDD8E9"/>
      </a:accent4>
      <a:accent5>
        <a:srgbClr val="E0A46B"/>
      </a:accent5>
      <a:accent6>
        <a:srgbClr val="1B1A17"/>
      </a:accent6>
      <a:hlink>
        <a:srgbClr val="3F6959"/>
      </a:hlink>
      <a:folHlink>
        <a:srgbClr val="315648"/>
      </a:folHlink>
    </a:clrScheme>
    <a:fontScheme name="Otula">
      <a:majorFont>
        <a:latin typeface="Georg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Otula — care for the mother, not just the baby</dc:title>
  <dc:subject>ImpactHer: Technology for Real Change — HackYeah 2026</dc:subject>
  <dc:creator>Otula team</dc:creator>
  <cp:lastModifiedBy>Otula team</cp:lastModifiedBy>
  <cp:revision>1</cp:revision>
  <dcterms:created xsi:type="dcterms:W3CDTF">2026-10-04T01:13:49Z</dcterms:created>
  <dcterms:modified xsi:type="dcterms:W3CDTF">2026-10-04T01:13:49Z</dcterms:modified>
</cp:coreProperties>
</file>